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2179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2563A6"/>
                </a:solidFill>
                <a:latin typeface="Segoe UI"/>
              </a:defRPr>
            </a:pPr>
            <a:r>
              <a:t>SUPPORTPILOT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200" b="1">
                <a:solidFill>
                  <a:srgbClr val="172033"/>
                </a:solidFill>
                <a:latin typeface="Segoe UI"/>
              </a:defRPr>
            </a:pPr>
            <a:r>
              <a:t>Intelligent IT Ticket Management &amp;</a:t>
            </a:r>
            <a:br/>
            <a:r>
              <a:t>AI-Powered Diagnostic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PRESENTER</a:t>
            </a:r>
          </a:p>
          <a:p>
            <a:pPr>
              <a:spcBef>
                <a:spcPts val="400"/>
              </a:spcBef>
              <a:defRPr sz="1700" b="1">
                <a:solidFill>
                  <a:srgbClr val="172033"/>
                </a:solidFill>
                <a:latin typeface="Segoe UI"/>
              </a:defRPr>
            </a:pPr>
            <a:r>
              <a:t>Karri Bala Venkata Swarup Reddy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914400"/>
            <a:ext cx="4236415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188720"/>
            <a:ext cx="3870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A6"/>
                </a:solidFill>
                <a:latin typeface="Segoe UI"/>
              </a:defRPr>
            </a:pPr>
            <a:r>
              <a:t>SYSTEM ARCHITECTURE OVERVIEW</a:t>
            </a:r>
          </a:p>
          <a:p>
            <a:pPr>
              <a:spcBef>
                <a:spcPts val="1400"/>
              </a:spcBef>
              <a:defRPr sz="1200" b="1">
                <a:solidFill>
                  <a:srgbClr val="172033"/>
                </a:solidFill>
                <a:latin typeface="Segoe UI"/>
              </a:defRPr>
            </a:pPr>
            <a:r>
              <a:t>■  USER INTERFACE</a:t>
            </a:r>
          </a:p>
          <a:p>
            <a:pPr>
              <a:spcBef>
                <a:spcPts val="2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   React 18 SPA with Unified SaaS Layout</a:t>
            </a:r>
          </a:p>
          <a:p>
            <a:pPr>
              <a:spcBef>
                <a:spcPts val="1400"/>
              </a:spcBef>
              <a:defRPr sz="1200" b="1">
                <a:solidFill>
                  <a:srgbClr val="172033"/>
                </a:solidFill>
                <a:latin typeface="Segoe UI"/>
              </a:defRPr>
            </a:pPr>
            <a:r>
              <a:t>■  AI DIAGNOSTICS</a:t>
            </a:r>
          </a:p>
          <a:p>
            <a:pPr>
              <a:spcBef>
                <a:spcPts val="2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   Google Gemini 2.5 Flash Integration</a:t>
            </a:r>
          </a:p>
          <a:p>
            <a:pPr>
              <a:spcBef>
                <a:spcPts val="1400"/>
              </a:spcBef>
              <a:defRPr sz="1200" b="1">
                <a:solidFill>
                  <a:srgbClr val="172033"/>
                </a:solidFill>
                <a:latin typeface="Segoe UI"/>
              </a:defRPr>
            </a:pPr>
            <a:r>
              <a:t>■  TICKET SYSTEM</a:t>
            </a:r>
          </a:p>
          <a:p>
            <a:pPr>
              <a:spcBef>
                <a:spcPts val="2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   SQLite Database &amp; Priority Booster</a:t>
            </a:r>
          </a:p>
          <a:p>
            <a:pPr>
              <a:spcBef>
                <a:spcPts val="1400"/>
              </a:spcBef>
              <a:defRPr sz="1200" b="1">
                <a:solidFill>
                  <a:srgbClr val="172033"/>
                </a:solidFill>
                <a:latin typeface="Segoe UI"/>
              </a:defRPr>
            </a:pPr>
            <a:r>
              <a:t>■  ENGINEERING SUPPORT</a:t>
            </a:r>
          </a:p>
          <a:p>
            <a:pPr>
              <a:spcBef>
                <a:spcPts val="2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   Admin Operations Command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2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A6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Bef>
                <a:spcPts val="1400"/>
              </a:spcBef>
              <a:defRPr sz="1800" b="1">
                <a:solidFill>
                  <a:srgbClr val="172033"/>
                </a:solidFill>
                <a:latin typeface="Segoe UI"/>
              </a:defRPr>
            </a:pPr>
            <a:r>
              <a:t>IT support teams spend significant time triaging repetitive issues before engineering resources can be engaged.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5699455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3336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Segoe UI"/>
              </a:defRPr>
            </a:pPr>
            <a:r>
              <a:t>FIVE CORE HELPDESK FRICTION POINTS</a:t>
            </a:r>
          </a:p>
          <a:p>
            <a:pPr>
              <a:spcBef>
                <a:spcPts val="1000"/>
              </a:spcBef>
              <a:defRPr sz="1400" b="1">
                <a:solidFill>
                  <a:srgbClr val="172033"/>
                </a:solidFill>
                <a:latin typeface="Segoe UI"/>
              </a:defRPr>
            </a:pPr>
            <a:r>
              <a:t>01  Manual Ticket Triaging</a:t>
            </a:r>
          </a:p>
          <a:p>
            <a:pPr>
              <a:spcBef>
                <a:spcPts val="1000"/>
              </a:spcBef>
              <a:defRPr sz="1400" b="1">
                <a:solidFill>
                  <a:srgbClr val="172033"/>
                </a:solidFill>
                <a:latin typeface="Segoe UI"/>
              </a:defRPr>
            </a:pPr>
            <a:r>
              <a:t>02  Slow L1 Resolution</a:t>
            </a:r>
          </a:p>
          <a:p>
            <a:pPr>
              <a:spcBef>
                <a:spcPts val="1000"/>
              </a:spcBef>
              <a:defRPr sz="1400" b="1">
                <a:solidFill>
                  <a:srgbClr val="172033"/>
                </a:solidFill>
                <a:latin typeface="Segoe UI"/>
              </a:defRPr>
            </a:pPr>
            <a:r>
              <a:t>03  Inconsistent Triage</a:t>
            </a:r>
          </a:p>
          <a:p>
            <a:pPr>
              <a:spcBef>
                <a:spcPts val="1000"/>
              </a:spcBef>
              <a:defRPr sz="1400" b="1">
                <a:solidFill>
                  <a:srgbClr val="172033"/>
                </a:solidFill>
                <a:latin typeface="Segoe UI"/>
              </a:defRPr>
            </a:pPr>
            <a:r>
              <a:t>04  Limited Self-Service</a:t>
            </a:r>
          </a:p>
          <a:p>
            <a:pPr>
              <a:spcBef>
                <a:spcPts val="1000"/>
              </a:spcBef>
              <a:defRPr sz="1400" b="1">
                <a:solidFill>
                  <a:srgbClr val="172033"/>
                </a:solidFill>
                <a:latin typeface="Segoe UI"/>
              </a:defRPr>
            </a:pPr>
            <a:r>
              <a:t>05  Queue Congestion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USER ISSUE  →  SUPPORT REQUEST  →  MANUAL TRIAGE  →  QUEUE DELAY  → 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CONCEPTUAL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FROM ISSUE TO INTELLIGENT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3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033"/>
                </a:solidFill>
                <a:latin typeface="Segoe UI"/>
              </a:defRPr>
            </a:pPr>
            <a:r>
              <a:t>USER ISSUE</a:t>
            </a:r>
          </a:p>
          <a:p>
            <a:pPr>
              <a:spcBef>
                <a:spcPts val="8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User describes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371600"/>
            <a:ext cx="20116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A6"/>
                </a:solidFill>
                <a:latin typeface="Segoe UI"/>
              </a:defRPr>
            </a:pPr>
            <a:r>
              <a:t>AI DIAGNOSIS</a:t>
            </a:r>
          </a:p>
          <a:p>
            <a:pPr>
              <a:spcBef>
                <a:spcPts val="8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Gemini 2.5 Flash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37160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033"/>
                </a:solidFill>
                <a:latin typeface="Segoe UI"/>
              </a:defRPr>
            </a:pPr>
            <a:r>
              <a:t>STRUCTURED GUIDANCE</a:t>
            </a:r>
          </a:p>
          <a:p>
            <a:pPr>
              <a:spcBef>
                <a:spcPts val="8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Plain summary &amp;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37160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6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033"/>
                </a:solidFill>
                <a:latin typeface="Segoe UI"/>
              </a:defRPr>
            </a:pPr>
            <a:r>
              <a:t>USER TROUBLESHOOTING</a:t>
            </a:r>
          </a:p>
          <a:p>
            <a:pPr>
              <a:spcBef>
                <a:spcPts val="8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Interactive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37160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28048" y="146304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033"/>
                </a:solidFill>
                <a:latin typeface="Segoe UI"/>
              </a:defRPr>
            </a:pPr>
            <a:r>
              <a:t>DECISION</a:t>
            </a:r>
          </a:p>
          <a:p>
            <a:pPr>
              <a:spcBef>
                <a:spcPts val="8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Resolution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7D5A"/>
                </a:solidFill>
                <a:latin typeface="Segoe UI"/>
              </a:defRPr>
            </a:pPr>
            <a:r>
              <a:t>✔  ISSUE RESOLVED BY USER</a:t>
            </a:r>
          </a:p>
          <a:p>
            <a:pPr>
              <a:spcBef>
                <a:spcPts val="6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User confirms that the guided troubleshooting resolved the issue.</a:t>
            </a:r>
          </a:p>
          <a:p>
            <a:pPr>
              <a:spcBef>
                <a:spcPts val="4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Ticket is updated through the application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3840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0975" y="3977639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91F"/>
                </a:solidFill>
                <a:latin typeface="Segoe UI"/>
              </a:defRPr>
            </a:pPr>
            <a:r>
              <a:t>⚡ ESCALATED TO HUMAN SUPPORT</a:t>
            </a:r>
          </a:p>
          <a:p>
            <a:pPr>
              <a:spcBef>
                <a:spcPts val="6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Issue requires physical hardware repair or administrator credentials.</a:t>
            </a:r>
          </a:p>
          <a:p>
            <a:pPr>
              <a:spcBef>
                <a:spcPts val="4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Ticket is dispatched to Admin Command Center for engineer assignment.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4-TIER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4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A6"/>
                </a:solidFill>
                <a:latin typeface="Segoe UI"/>
              </a:defRPr>
            </a:pPr>
            <a:r>
              <a:t>PRESENTATION</a:t>
            </a:r>
          </a:p>
          <a:p>
            <a:pPr>
              <a:spcBef>
                <a:spcPts val="400"/>
              </a:spcBef>
              <a:defRPr sz="1200">
                <a:solidFill>
                  <a:srgbClr val="172033"/>
                </a:solidFill>
                <a:latin typeface="Segoe UI"/>
              </a:defRPr>
            </a:pPr>
            <a:r>
              <a:t>React 18.3.1 SPA  •  Vite 5.2.0  •  React Router v6.30.4  •  AppLayout  •  Lucide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APPLICATION / API</a:t>
            </a:r>
          </a:p>
          <a:p>
            <a:pPr>
              <a:spcBef>
                <a:spcPts val="400"/>
              </a:spcBef>
              <a:defRPr sz="1200">
                <a:solidFill>
                  <a:srgbClr val="172033"/>
                </a:solidFill>
                <a:latin typeface="Segoe UI"/>
              </a:defRPr>
            </a:pPr>
            <a:r>
              <a:t>Node.js Express Server (Port 5000)  •  JWT Auth  •  BcryptJS  •  Routes: /api/auth, /api/ai, /api/tickets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7D5A"/>
                </a:solidFill>
                <a:latin typeface="Segoe UI"/>
              </a:defRPr>
            </a:pPr>
            <a:r>
              <a:t>AI INTELLIGENCE</a:t>
            </a:r>
          </a:p>
          <a:p>
            <a:pPr>
              <a:spcBef>
                <a:spcPts val="400"/>
              </a:spcBef>
              <a:defRPr sz="1200">
                <a:solidFill>
                  <a:srgbClr val="172033"/>
                </a:solidFill>
                <a:latin typeface="Segoe UI"/>
              </a:defRPr>
            </a:pPr>
            <a:r>
              <a:t>Google Gemini 2.5 Flash API (gemini-2.5-flash)  •  priorityEngine.js Booster  •  Fallback Analyzer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A6"/>
                </a:solidFill>
                <a:latin typeface="Segoe UI"/>
              </a:defRPr>
            </a:pPr>
            <a:r>
              <a:t>DATA</a:t>
            </a:r>
          </a:p>
          <a:p>
            <a:pPr>
              <a:spcBef>
                <a:spcPts val="400"/>
              </a:spcBef>
              <a:defRPr sz="1200">
                <a:solidFill>
                  <a:srgbClr val="172033"/>
                </a:solidFill>
                <a:latin typeface="Segoe UI"/>
              </a:defRPr>
            </a:pPr>
            <a:r>
              <a:t>SQLite Database (sams.db) via Native node:sqlite DatabaseSync  •  Tables: users, tickets, TicketTimeline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7791F"/>
                </a:solidFill>
                <a:latin typeface="Segoe UI"/>
              </a:defRPr>
            </a:pPr>
            <a:r>
              <a:t>⚡ Fallback Resilience: Gemini unavailable / unconfigured  ➔  Local fallback analyzer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VERIFIED 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ENGINEERING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5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A6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Framework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React 18.3.1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Build Tool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Vite 5.2.0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Routing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React Router v6.30.4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HTTP Client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Axios 1.19.0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Styling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Vanilla CSS &amp; HSL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5304" y="141732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Segoe UI"/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Runtime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Node.js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Framework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Express.js 4.18.3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Architecture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RESTful HTTP API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Auth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jsonwebtoken 9.0.2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Encryption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BcryptJS 2.4.3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7D5A"/>
                </a:solidFill>
                <a:latin typeface="Segoe UI"/>
              </a:defRPr>
            </a:pPr>
            <a:r>
              <a:t>AI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Primary Model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Google Gemini 2.5 Flash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API Endpoint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generativelanguage.googleapis.com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MIME Type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application/json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Priority Engine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priorityEngine.js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Fallback Engine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7-Domain Knowledge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3416" y="141732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A6"/>
                </a:solidFill>
                <a:latin typeface="Segoe UI"/>
              </a:defRPr>
            </a:pPr>
            <a:r>
              <a:t>DATA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Database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SQLite (sams.db)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Driver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Native node:sqlite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Binding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DatabaseSync API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Table: Users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Accounts &amp; Credentials</a:t>
            </a:r>
          </a:p>
          <a:p>
            <a:pPr>
              <a:spcBef>
                <a:spcPts val="8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• Table: Tickets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   Incidents &amp;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THE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AI DIAGNOSTIC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6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4863" y="1280160"/>
            <a:ext cx="5749491" cy="5126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60295" y="1463041"/>
            <a:ext cx="4989094" cy="4943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A6"/>
                </a:solidFill>
                <a:latin typeface="Segoe UI"/>
              </a:defRPr>
            </a:pPr>
            <a:r>
              <a:rPr sz="1600" dirty="0"/>
              <a:t>DIAGNOSTIC PIPELINE FLOW</a:t>
            </a:r>
            <a:endParaRPr lang="en-IN" sz="1600" dirty="0"/>
          </a:p>
          <a:p>
            <a:pPr>
              <a:defRPr sz="1300" b="1">
                <a:solidFill>
                  <a:srgbClr val="2563A6"/>
                </a:solidFill>
                <a:latin typeface="Segoe UI"/>
              </a:defRPr>
            </a:pPr>
            <a:endParaRPr sz="1600" dirty="0"/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USER ISSUE INPUT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Title, Dept &amp; Problem Description</a:t>
            </a:r>
          </a:p>
          <a:p>
            <a:pPr>
              <a:defRPr sz="1100" b="1">
                <a:solidFill>
                  <a:srgbClr val="2563A6"/>
                </a:solidFill>
              </a:defRPr>
            </a:pPr>
            <a:r>
              <a:rPr sz="1600" dirty="0"/>
              <a:t>        ↓</a:t>
            </a:r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AI DIAGNOSTIC AGENT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geminiService.js / POST /</a:t>
            </a:r>
            <a:r>
              <a:rPr sz="1600" dirty="0" err="1"/>
              <a:t>api</a:t>
            </a:r>
            <a:r>
              <a:rPr sz="1600" dirty="0"/>
              <a:t>/ai/analyze</a:t>
            </a:r>
          </a:p>
          <a:p>
            <a:pPr>
              <a:defRPr sz="1100" b="1">
                <a:solidFill>
                  <a:srgbClr val="2563A6"/>
                </a:solidFill>
              </a:defRPr>
            </a:pPr>
            <a:r>
              <a:rPr sz="1600" dirty="0"/>
              <a:t>        ↓</a:t>
            </a:r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GEMINI 2.5 FLASH API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generativelanguage.googleapis.com</a:t>
            </a:r>
          </a:p>
          <a:p>
            <a:pPr>
              <a:defRPr sz="1100" b="1">
                <a:solidFill>
                  <a:srgbClr val="2563A6"/>
                </a:solidFill>
              </a:defRPr>
            </a:pPr>
            <a:r>
              <a:rPr sz="1600" dirty="0"/>
              <a:t>        ↓</a:t>
            </a:r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STRUCTURED JSON VALIDATION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</a:t>
            </a:r>
            <a:r>
              <a:rPr sz="1600" dirty="0" err="1"/>
              <a:t>responseMimeType</a:t>
            </a:r>
            <a:r>
              <a:rPr sz="1600" dirty="0"/>
              <a:t>: application/</a:t>
            </a:r>
            <a:r>
              <a:rPr sz="1600" dirty="0" err="1"/>
              <a:t>json</a:t>
            </a:r>
            <a:r>
              <a:rPr sz="1600" dirty="0"/>
              <a:t> | temp: 0.2</a:t>
            </a:r>
          </a:p>
          <a:p>
            <a:pPr>
              <a:defRPr sz="1100" b="1">
                <a:solidFill>
                  <a:srgbClr val="2563A6"/>
                </a:solidFill>
              </a:defRPr>
            </a:pPr>
            <a:r>
              <a:rPr sz="1600" dirty="0"/>
              <a:t>        ↓</a:t>
            </a:r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PRIORITY KEYWORD BOOSTER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priorityEngine.js scans urgent terms</a:t>
            </a:r>
          </a:p>
          <a:p>
            <a:pPr>
              <a:defRPr sz="1100" b="1">
                <a:solidFill>
                  <a:srgbClr val="2563A6"/>
                </a:solidFill>
              </a:defRPr>
            </a:pPr>
            <a:r>
              <a:rPr sz="1600" dirty="0"/>
              <a:t>        ↓</a:t>
            </a:r>
          </a:p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rPr sz="1600" dirty="0"/>
              <a:t>• DIAGNOSTIC OUTPUT</a:t>
            </a:r>
          </a:p>
          <a:p>
            <a:pPr>
              <a:defRPr sz="900">
                <a:solidFill>
                  <a:srgbClr val="5F6B7A"/>
                </a:solidFill>
                <a:latin typeface="Segoe UI"/>
              </a:defRPr>
            </a:pPr>
            <a:r>
              <a:rPr sz="1600" dirty="0"/>
              <a:t>   Category, Priority, Severity &amp; Checklist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PROCESS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END-TO-END SUPPORT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7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01  USER REPORTS ISSUE</a:t>
            </a:r>
          </a:p>
          <a:p>
            <a:pPr>
              <a:spcBef>
                <a:spcPts val="6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User enters Issue Title, Dept &amp; Description in RaiseTicket.jsx wizard.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371600"/>
            <a:ext cx="20116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4630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02  AI ANALYZES ISSUE</a:t>
            </a:r>
          </a:p>
          <a:p>
            <a:pPr>
              <a:spcBef>
                <a:spcPts val="6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Gemini 2.5 Flash performs analysis; returns Category &amp; AI Confidence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37160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4630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03  DIAGNOSIS &amp; CHECKLIST</a:t>
            </a:r>
          </a:p>
          <a:p>
            <a:pPr>
              <a:spcBef>
                <a:spcPts val="6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Presents summary, root causes, and interactive step-by-step checklist.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37160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6" y="14630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04  USER FOLLOWS GUIDANCE</a:t>
            </a:r>
          </a:p>
          <a:p>
            <a:pPr>
              <a:spcBef>
                <a:spcPts val="6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User checks off guided troubleshooting remedies.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371600"/>
            <a:ext cx="2011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28048" y="146304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05  DECISION</a:t>
            </a:r>
          </a:p>
          <a:p>
            <a:pPr>
              <a:spcBef>
                <a:spcPts val="6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User assesses if problem is fixed or requires escalation.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F7D5A"/>
                </a:solidFill>
                <a:latin typeface="Segoe UI"/>
              </a:defRPr>
            </a:pPr>
            <a:r>
              <a:t>YES: AI-ASSISTED RESOLUTION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User confirms that the guided troubleshooting resolved the issue.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Updates the ticket through the application workflow.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Saved to database with status: 'Resolved'.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Resolution source tagged as 'AI Assistant'.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3749039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0975" y="38862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91F"/>
                </a:solidFill>
                <a:latin typeface="Segoe UI"/>
              </a:defRPr>
            </a:pPr>
            <a:r>
              <a:t>NO: CREATE SUPPORT TICKET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Issue requires physical hardware repair or admin privileges.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Ticket submitted to SQLite DB with status: 'Open'.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Dispatched to Admin Command Center queue.</a:t>
            </a:r>
          </a:p>
          <a:p>
            <a:pPr>
              <a:spcBef>
                <a:spcPts val="400"/>
              </a:spcBef>
              <a:defRPr sz="1050">
                <a:solidFill>
                  <a:srgbClr val="172033"/>
                </a:solidFill>
                <a:latin typeface="Segoe UI"/>
              </a:defRPr>
            </a:pPr>
            <a:r>
              <a:t>• Admin assigns the ticket to an engineer for resolution.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A6"/>
                </a:solidFill>
                <a:latin typeface="Segoe UI"/>
              </a:defRPr>
            </a:pPr>
            <a:r>
              <a:t>SYSTEM CAPABILITIES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033"/>
                </a:solidFill>
                <a:latin typeface="Segoe UI"/>
              </a:defRPr>
            </a:pPr>
            <a:r>
              <a:t>IMPLEMENTATION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8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A6"/>
                </a:solidFill>
                <a:latin typeface="Segoe UI"/>
              </a:defRPr>
            </a:pPr>
            <a:r>
              <a:t>IMPLEMENTED SYSTEM CAPABILITIES</a:t>
            </a:r>
          </a:p>
          <a:p>
            <a:pPr>
              <a:spcBef>
                <a:spcPts val="21000"/>
              </a:spcBef>
              <a:defRPr sz="1050" b="1">
                <a:solidFill>
                  <a:srgbClr val="172033"/>
                </a:solidFill>
                <a:latin typeface="Segoe UI"/>
              </a:defRPr>
            </a:pPr>
            <a:r>
              <a:t>• Implemented: User Portal  •  Admin Operations Portal  •  AI Assistance  •  Guided Troubleshooting</a:t>
            </a:r>
          </a:p>
          <a:p>
            <a:pPr>
              <a:spcBef>
                <a:spcPts val="400"/>
              </a:spcBef>
              <a:defRPr sz="1050">
                <a:solidFill>
                  <a:srgbClr val="5F6B7A"/>
                </a:solidFill>
                <a:latin typeface="Segoe UI"/>
              </a:defRPr>
            </a:pPr>
            <a:r>
              <a:t>• Capabilities: Ticket Management  •  Engineer Assignment  •  Ticket Tracking  •  Dashboard KPIs</a:t>
            </a:r>
          </a:p>
        </p:txBody>
      </p:sp>
      <p:pic>
        <p:nvPicPr>
          <p:cNvPr id="8" name="Picture 7" descr="supportpilot_user_portal_left_sidebar_1786034313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6492240" cy="3623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1280160"/>
            <a:ext cx="368777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322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FUTURE TECHNICAL ROADMAP</a:t>
            </a:r>
          </a:p>
          <a:p>
            <a:pPr>
              <a:spcBef>
                <a:spcPts val="14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01 — EMAIL NOTIFICATIONS</a:t>
            </a:r>
          </a:p>
          <a:p>
            <a:pPr>
              <a:spcBef>
                <a:spcPts val="3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Ticket assignment and resolution notifications.</a:t>
            </a:r>
          </a:p>
          <a:p>
            <a:pPr>
              <a:spcBef>
                <a:spcPts val="14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02 — ENTERPRISE SSO</a:t>
            </a:r>
          </a:p>
          <a:p>
            <a:pPr>
              <a:spcBef>
                <a:spcPts val="3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OAuth2 / SAML-based enterprise authentication.</a:t>
            </a:r>
          </a:p>
          <a:p>
            <a:pPr>
              <a:spcBef>
                <a:spcPts val="1400"/>
              </a:spcBef>
              <a:defRPr sz="1100" b="1">
                <a:solidFill>
                  <a:srgbClr val="172033"/>
                </a:solidFill>
                <a:latin typeface="Segoe UI"/>
              </a:defRPr>
            </a:pPr>
            <a:r>
              <a:t>03 — VOICE-TO-TEXT REPORTING</a:t>
            </a:r>
          </a:p>
          <a:p>
            <a:pPr>
              <a:spcBef>
                <a:spcPts val="300"/>
              </a:spcBef>
              <a:defRPr sz="1000">
                <a:solidFill>
                  <a:srgbClr val="5F6B7A"/>
                </a:solidFill>
                <a:latin typeface="Segoe UI"/>
              </a:defRPr>
            </a:pPr>
            <a:r>
              <a:t>Voice-based issue description.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99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A6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172033"/>
                </a:solidFill>
                <a:latin typeface="Segoe UI"/>
              </a:defRPr>
            </a:pPr>
            <a:r>
              <a:t>Questions &amp; Technical Discussion</a:t>
            </a:r>
          </a:p>
          <a:p>
            <a:pPr algn="ctr">
              <a:spcBef>
                <a:spcPts val="2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SUPPORTPILOT AI</a:t>
            </a:r>
            <a:br/>
            <a:r>
              <a:t>AI-Assisted Diagnosis  •  Intelligent Ticket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SupportPilot AI — Technical Project Presentation  | 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887</Words>
  <Application>Microsoft Office PowerPoint</Application>
  <PresentationFormat>Widescreen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Swarup Reddy</cp:lastModifiedBy>
  <cp:revision>2</cp:revision>
  <dcterms:created xsi:type="dcterms:W3CDTF">2013-01-27T09:14:16Z</dcterms:created>
  <dcterms:modified xsi:type="dcterms:W3CDTF">2026-08-14T14:46:51Z</dcterms:modified>
  <cp:category/>
</cp:coreProperties>
</file>